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50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t  Patel" userId="33441a96-4037-441c-b3ff-fda27bc877de" providerId="ADAL" clId="{F4DA036C-560B-4E90-A6A1-E607C1D59683}"/>
    <pc:docChg chg="undo redo custSel addSld delSld modSld">
      <pc:chgData name="Het  Patel" userId="33441a96-4037-441c-b3ff-fda27bc877de" providerId="ADAL" clId="{F4DA036C-560B-4E90-A6A1-E607C1D59683}" dt="2026-09-15T18:01:01.947" v="43" actId="47"/>
      <pc:docMkLst>
        <pc:docMk/>
      </pc:docMkLst>
      <pc:sldChg chg="add del">
        <pc:chgData name="Het  Patel" userId="33441a96-4037-441c-b3ff-fda27bc877de" providerId="ADAL" clId="{F4DA036C-560B-4E90-A6A1-E607C1D59683}" dt="2026-09-15T18:01:01.947" v="43" actId="47"/>
        <pc:sldMkLst>
          <pc:docMk/>
          <pc:sldMk cId="0" sldId="256"/>
        </pc:sldMkLst>
      </pc:sldChg>
      <pc:sldChg chg="modSp mod">
        <pc:chgData name="Het  Patel" userId="33441a96-4037-441c-b3ff-fda27bc877de" providerId="ADAL" clId="{F4DA036C-560B-4E90-A6A1-E607C1D59683}" dt="2026-09-15T17:46:54.529" v="19" actId="1076"/>
        <pc:sldMkLst>
          <pc:docMk/>
          <pc:sldMk cId="0" sldId="260"/>
        </pc:sldMkLst>
        <pc:spChg chg="mod">
          <ac:chgData name="Het  Patel" userId="33441a96-4037-441c-b3ff-fda27bc877de" providerId="ADAL" clId="{F4DA036C-560B-4E90-A6A1-E607C1D59683}" dt="2026-09-15T17:46:54.529" v="19" actId="1076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">
        <pc:chgData name="Het  Patel" userId="33441a96-4037-441c-b3ff-fda27bc877de" providerId="ADAL" clId="{F4DA036C-560B-4E90-A6A1-E607C1D59683}" dt="2026-09-15T17:48:07.312" v="31"/>
        <pc:sldMkLst>
          <pc:docMk/>
          <pc:sldMk cId="0" sldId="261"/>
        </pc:sldMkLst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7" creationId="{C1078F48-4827-4B33-935E-37853D710F9B}"/>
          </ac:spMkLst>
        </pc:spChg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8" creationId="{951342A9-64A4-4AF4-B16F-2B5EA9EC1AAD}"/>
          </ac:spMkLst>
        </pc:spChg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9" creationId="{CFDF72DE-A231-4DAB-B716-6567F38BA4A5}"/>
          </ac:spMkLst>
        </pc:spChg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10" creationId="{94F2063D-B77F-488B-BF62-2B847F18D92E}"/>
          </ac:spMkLst>
        </pc:spChg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11" creationId="{9B505293-24F4-47ED-855B-D78E2AF839A3}"/>
          </ac:spMkLst>
        </pc:spChg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12" creationId="{111FBCD5-3A76-4FC1-8819-3AD94D074BA4}"/>
          </ac:spMkLst>
        </pc:spChg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13" creationId="{886095DD-3965-4C96-929B-57FA08E0A92E}"/>
          </ac:spMkLst>
        </pc:spChg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14" creationId="{DFD8F635-94C1-4801-981B-626F4D6AD5E4}"/>
          </ac:spMkLst>
        </pc:spChg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15" creationId="{FA056896-F749-46DB-987B-F786EE913776}"/>
          </ac:spMkLst>
        </pc:spChg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16" creationId="{54D98D05-FF16-47BD-BB5D-2760A8BE8B8C}"/>
          </ac:spMkLst>
        </pc:spChg>
        <pc:spChg chg="add del mod">
          <ac:chgData name="Het  Patel" userId="33441a96-4037-441c-b3ff-fda27bc877de" providerId="ADAL" clId="{F4DA036C-560B-4E90-A6A1-E607C1D59683}" dt="2026-09-15T17:48:07.312" v="31"/>
          <ac:spMkLst>
            <pc:docMk/>
            <pc:sldMk cId="0" sldId="261"/>
            <ac:spMk id="17" creationId="{D3C59592-172F-44EC-9889-0A0632592454}"/>
          </ac:spMkLst>
        </pc:spChg>
      </pc:sldChg>
      <pc:sldChg chg="addSp delSp modSp mod">
        <pc:chgData name="Het  Patel" userId="33441a96-4037-441c-b3ff-fda27bc877de" providerId="ADAL" clId="{F4DA036C-560B-4E90-A6A1-E607C1D59683}" dt="2026-09-15T17:49:06.451" v="34" actId="14100"/>
        <pc:sldMkLst>
          <pc:docMk/>
          <pc:sldMk cId="0" sldId="263"/>
        </pc:sldMkLst>
        <pc:spChg chg="add del">
          <ac:chgData name="Het  Patel" userId="33441a96-4037-441c-b3ff-fda27bc877de" providerId="ADAL" clId="{F4DA036C-560B-4E90-A6A1-E607C1D59683}" dt="2026-09-15T17:25:16.683" v="14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Het  Patel" userId="33441a96-4037-441c-b3ff-fda27bc877de" providerId="ADAL" clId="{F4DA036C-560B-4E90-A6A1-E607C1D59683}" dt="2026-09-15T17:25:41.648" v="16" actId="14100"/>
          <ac:spMkLst>
            <pc:docMk/>
            <pc:sldMk cId="0" sldId="263"/>
            <ac:spMk id="6" creationId="{00000000-0000-0000-0000-000000000000}"/>
          </ac:spMkLst>
        </pc:spChg>
        <pc:picChg chg="add mod">
          <ac:chgData name="Het  Patel" userId="33441a96-4037-441c-b3ff-fda27bc877de" providerId="ADAL" clId="{F4DA036C-560B-4E90-A6A1-E607C1D59683}" dt="2026-09-15T17:49:06.451" v="34" actId="14100"/>
          <ac:picMkLst>
            <pc:docMk/>
            <pc:sldMk cId="0" sldId="263"/>
            <ac:picMk id="1026" creationId="{D8F7B075-8593-4AAA-BFB3-732E0827B211}"/>
          </ac:picMkLst>
        </pc:picChg>
      </pc:sldChg>
      <pc:sldChg chg="del">
        <pc:chgData name="Het  Patel" userId="33441a96-4037-441c-b3ff-fda27bc877de" providerId="ADAL" clId="{F4DA036C-560B-4E90-A6A1-E607C1D59683}" dt="2026-09-15T17:27:46.148" v="17" actId="47"/>
        <pc:sldMkLst>
          <pc:docMk/>
          <pc:sldMk cId="0" sldId="283"/>
        </pc:sldMkLst>
      </pc:sldChg>
      <pc:sldChg chg="modSp add mod">
        <pc:chgData name="Het  Patel" userId="33441a96-4037-441c-b3ff-fda27bc877de" providerId="ADAL" clId="{F4DA036C-560B-4E90-A6A1-E607C1D59683}" dt="2026-09-15T18:00:59.993" v="42"/>
        <pc:sldMkLst>
          <pc:docMk/>
          <pc:sldMk cId="0" sldId="500"/>
        </pc:sldMkLst>
        <pc:spChg chg="mod">
          <ac:chgData name="Het  Patel" userId="33441a96-4037-441c-b3ff-fda27bc877de" providerId="ADAL" clId="{F4DA036C-560B-4E90-A6A1-E607C1D59683}" dt="2026-09-15T18:00:59.993" v="42"/>
          <ac:spMkLst>
            <pc:docMk/>
            <pc:sldMk cId="0" sldId="500"/>
            <ac:spMk id="8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232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2170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09850" y="3078750"/>
            <a:ext cx="11772300" cy="2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Het Patel</a:t>
            </a:r>
            <a:endParaRPr sz="18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ID: AU2440266 </a:t>
            </a:r>
            <a:endParaRPr sz="18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Institute: Ahmedabad University </a:t>
            </a:r>
            <a:endParaRPr sz="18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13th September 2026</a:t>
            </a:r>
            <a:endParaRPr sz="18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Program: </a:t>
            </a:r>
            <a:r>
              <a:rPr lang="en-US" sz="1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CSE </a:t>
            </a:r>
            <a:b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</a:t>
            </a:r>
            <a:r>
              <a:rPr lang="en-US" sz="1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uGLAD</a:t>
            </a: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 Independence Graph Recovery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347050" y="6184475"/>
            <a:ext cx="74979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US" sz="1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Computer Science Engineering, School of Engineering and Applied Sciences</a:t>
            </a:r>
            <a:endParaRPr sz="12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Talk Covers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parts, building from basics to our plan.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993392" cy="1188720"/>
          </a:xfrm>
          <a:prstGeom prst="roundRect">
            <a:avLst>
              <a:gd name="adj" fmla="val 4615"/>
            </a:avLst>
          </a:prstGeom>
          <a:solidFill>
            <a:srgbClr val="7D1916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10896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50592" y="3703320"/>
            <a:ext cx="32004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0632" y="3108960"/>
            <a:ext cx="1993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70632" y="310896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64024" y="3703320"/>
            <a:ext cx="32004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84064" y="3108960"/>
            <a:ext cx="1993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310896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&amp;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77456" y="3703320"/>
            <a:ext cx="32004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97496" y="3108960"/>
            <a:ext cx="1993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97496" y="310896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SOTA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90888" y="3703320"/>
            <a:ext cx="32004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10928" y="3108960"/>
            <a:ext cx="1993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10928" y="310896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Graphical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Nodes are variables.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Edges are direct relationships between them.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95360" y="2011680"/>
            <a:ext cx="1216152" cy="1984248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7379208" y="3995928"/>
            <a:ext cx="2432304" cy="9144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379208" y="2011680"/>
            <a:ext cx="1216152" cy="1984248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5544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54312" y="3538728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54312" y="35387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22008" y="3538728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22008" y="35387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Real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often do not know which links are real.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 discovery finds them from data alone.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95360" y="2011680"/>
            <a:ext cx="1216152" cy="1984248"/>
          </a:xfrm>
          <a:prstGeom prst="line">
            <a:avLst/>
          </a:prstGeom>
          <a:noFill/>
          <a:ln w="19050">
            <a:solidFill>
              <a:srgbClr val="4D4D4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 flipH="1">
            <a:off x="7379208" y="3995928"/>
            <a:ext cx="2432304" cy="9144"/>
          </a:xfrm>
          <a:prstGeom prst="line">
            <a:avLst/>
          </a:prstGeom>
          <a:noFill/>
          <a:ln w="19050">
            <a:solidFill>
              <a:srgbClr val="4D4D4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7379208" y="2011680"/>
            <a:ext cx="1216152" cy="1984248"/>
          </a:xfrm>
          <a:prstGeom prst="line">
            <a:avLst/>
          </a:prstGeom>
          <a:noFill/>
          <a:ln w="19050">
            <a:solidFill>
              <a:srgbClr val="4D4D4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138160" y="15544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D4D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54312" y="3538728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D4D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54312" y="35387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22008" y="3538728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D4D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22008" y="35387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Correlation Lies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affects B. B affects C.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 A and C look linked, with no direct link.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14600" y="4572000"/>
            <a:ext cx="3017520" cy="91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537960" y="4572000"/>
            <a:ext cx="3017520" cy="91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11680" y="3429000"/>
            <a:ext cx="8046720" cy="9144"/>
          </a:xfrm>
          <a:prstGeom prst="line">
            <a:avLst/>
          </a:prstGeom>
          <a:noFill/>
          <a:ln w="19050">
            <a:solidFill>
              <a:srgbClr val="4D4D4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011680" y="3429000"/>
            <a:ext cx="9144" cy="640080"/>
          </a:xfrm>
          <a:prstGeom prst="line">
            <a:avLst/>
          </a:prstGeom>
          <a:noFill/>
          <a:ln w="19050">
            <a:solidFill>
              <a:srgbClr val="4D4D4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058400" y="3429000"/>
            <a:ext cx="9144" cy="640080"/>
          </a:xfrm>
          <a:prstGeom prst="line">
            <a:avLst/>
          </a:prstGeom>
          <a:noFill/>
          <a:ln w="19050">
            <a:solidFill>
              <a:srgbClr val="4D4D4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 real link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08760" y="406908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08760" y="4069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406908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4069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55480" y="406908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55480" y="4069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1: A and C only look related. There is no direct A to C link.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Conditional Independence, Defined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variables are independent once everything else is known.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566160" y="310896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7ECEC"/>
          </a:solidFill>
          <a:ln w="19050">
            <a:solidFill>
              <a:srgbClr val="7D19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49040" y="31089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 is independent of  Y  given  Z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Conditional Independence Graph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an edge only if it survives conditioning.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138160" y="1783080"/>
            <a:ext cx="1389888" cy="1024128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015984" y="2807208"/>
            <a:ext cx="512064" cy="1682496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7260336" y="4489704"/>
            <a:ext cx="1755648" cy="9144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6748272" y="2807208"/>
            <a:ext cx="512064" cy="1682496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1783080"/>
            <a:ext cx="877824" cy="2706624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41732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62288" y="2441448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62288" y="2441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50224" y="4123944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50224" y="41239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94576" y="4123944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94576" y="41239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82512" y="2441448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82512" y="2441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57607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2: X1 and X4 have no edge. They are conditionally independent.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Assume Gaussian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 data makes independence exactly computable.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assumption uGLAD relies on.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09360" y="3931920"/>
            <a:ext cx="4754880" cy="91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49402" y="4366260"/>
            <a:ext cx="4414838" cy="1051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3: A Gaussian distribution, symmetric around its mean.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  <p:pic>
        <p:nvPicPr>
          <p:cNvPr id="1026" name="Picture 2" descr="Features of a Normal Distribution (Bell Curve)">
            <a:extLst>
              <a:ext uri="{FF2B5EF4-FFF2-40B4-BE49-F238E27FC236}">
                <a16:creationId xmlns:a16="http://schemas.microsoft.com/office/drawing/2014/main" id="{D8F7B075-8593-4AAA-BFB3-732E0827B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50753"/>
            <a:ext cx="5212080" cy="259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Covariance Matrix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captures every pairwise link.</a:t>
            </a:r>
            <a:endParaRPr lang="en-US" sz="23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and indirect links, mixed together.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132320" y="21031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σ11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46720" y="21031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σ12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61120" y="21031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σ13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30175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σ21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30175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σ22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0" y="30175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σ23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0" y="39319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σ31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39319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σ32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61120" y="39319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σ33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4: The covariance matrix Sigma.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Precision Matrix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Invert the covariance matrix.</a:t>
            </a:r>
            <a:endParaRPr lang="en-US" sz="23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Call the result Theta.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0" y="29260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0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138160" y="3383280"/>
            <a:ext cx="822960" cy="9144"/>
          </a:xfrm>
          <a:prstGeom prst="line">
            <a:avLst/>
          </a:prstGeom>
          <a:noFill/>
          <a:ln w="2540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09244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inverse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052560" y="29260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52560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0936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5: Theta equals Sigma inverse.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Key Fact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zero in Theta means direct independence.</a:t>
            </a:r>
            <a:endParaRPr lang="en-US" sz="23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entry becomes a missing edge.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132320" y="21031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θ11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46720" y="21031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θ12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61120" y="21031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30175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θ21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30175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θ22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0" y="30175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θ23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0" y="39319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39319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θ32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61120" y="39319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θ33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6: Zero entries mark conditional independence.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Worked Example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Theta13 = 0.</a:t>
            </a:r>
            <a:endParaRPr lang="en-US" sz="22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 X1 and X3 are independent given X2.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309360" y="182880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0936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78040" y="182880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-0.6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0" y="1828800"/>
            <a:ext cx="868680" cy="86868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69748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-0.6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78040" y="269748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78040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69748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2697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-0.5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868680" cy="86868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566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78040" y="356616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78040" y="3566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-0.5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0" y="356616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3566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0" y="4937760"/>
            <a:ext cx="1508760" cy="9144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4937760"/>
            <a:ext cx="1508760" cy="9144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55371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99632" y="45537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08392" y="455371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08392" y="45537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217152" y="455371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17152" y="45537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7: No X1 to X3 edge. The chain X1-X2-X3 explains it all.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Partial Correlation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gives the strength and direction of a direct link.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108960" y="3017520"/>
            <a:ext cx="5943600" cy="1280160"/>
          </a:xfrm>
          <a:prstGeom prst="roundRect">
            <a:avLst>
              <a:gd name="adj" fmla="val 5714"/>
            </a:avLst>
          </a:prstGeom>
          <a:solidFill>
            <a:srgbClr val="F7ECEC"/>
          </a:solidFill>
          <a:ln w="19050">
            <a:solidFill>
              <a:srgbClr val="7D19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91840" y="301752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Pij  =  - Θij  /  sqrt( Θii · Θjj 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Problem, Restated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 a sparse Theta from samples X.</a:t>
            </a:r>
            <a:endParaRPr lang="en-US" sz="22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is conditional independence graph recovery.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75120" y="30175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0"/>
            <a:ext cx="822960" cy="9144"/>
          </a:xfrm>
          <a:prstGeom prst="line">
            <a:avLst/>
          </a:prstGeom>
          <a:noFill/>
          <a:ln w="2540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326880" y="30175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Solution: Graphical Lasso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 two goals: fit the data, and stay sparse.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194560" y="3017520"/>
            <a:ext cx="7772400" cy="1280160"/>
          </a:xfrm>
          <a:prstGeom prst="roundRect">
            <a:avLst>
              <a:gd name="adj" fmla="val 5714"/>
            </a:avLst>
          </a:prstGeom>
          <a:solidFill>
            <a:srgbClr val="F7ECEC"/>
          </a:solidFill>
          <a:ln w="19050">
            <a:solidFill>
              <a:srgbClr val="7D19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0" y="301752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minimize   fit(Θ)  +  ρ · sparsity(Θ)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Solving the Lasso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Block Coordinate Descent finds one best answer.</a:t>
            </a:r>
            <a:endParaRPr lang="en-US" sz="22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a fixed rho, the answer is guaranteed.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0" y="256032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0" y="25603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46720" y="256032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0" y="25603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92640" y="256032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Solve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(fixed ρ)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393192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80960" y="2903220"/>
            <a:ext cx="365760" cy="91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26880" y="2903220"/>
            <a:ext cx="365760" cy="914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8732520" y="3246120"/>
            <a:ext cx="1472184" cy="6858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30936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8: The classical graphical lasso pipeline.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Catch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rho value covers the entire matrix.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rarely fits every entry well.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2320" y="21031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46720" y="21031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961120" y="21031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32320" y="30175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46720" y="30175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ρ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61120" y="30175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0" y="39319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46720" y="39319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ρ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961120" y="3931920"/>
            <a:ext cx="914400" cy="914400"/>
          </a:xfrm>
          <a:prstGeom prst="rect">
            <a:avLst/>
          </a:prstGeom>
          <a:solidFill>
            <a:srgbClr val="7D191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9: The same rho, forced onto every entry.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New Idea: Unroll the Algorithm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 each solver step into one learnable layer.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4663440" cy="2103120"/>
          </a:xfrm>
          <a:prstGeom prst="roundRect">
            <a:avLst>
              <a:gd name="adj" fmla="val 2609"/>
            </a:avLst>
          </a:prstGeom>
          <a:solidFill>
            <a:srgbClr val="F7F7F7"/>
          </a:solidFill>
          <a:ln w="15875">
            <a:solidFill>
              <a:srgbClr val="CFC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7432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
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fixed step, repeated many times.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0" y="274320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7432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297180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Unrolled
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 different steps, each learned from data.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GLAD's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tiny network learns rho at every step.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3749040"/>
            <a:ext cx="41148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54680" y="32918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83480" y="3749040"/>
            <a:ext cx="41148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94960" y="32918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3749040"/>
            <a:ext cx="41148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32918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64040" y="3749040"/>
            <a:ext cx="41148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75520" y="32918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10: Each step learns its own regularization values.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GLAD Needs Supervision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GLAD requires the correct answer.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true Theta must be known in advance.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6480" y="22860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Predicted 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0" y="22860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 Θ*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23591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75320" y="2724912"/>
            <a:ext cx="82296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8275320" y="2999232"/>
            <a:ext cx="82296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943600" y="3429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11: Training needs the true answer to compare against.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uGLAD Removes That Requirement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uGLAD trains on the input data alone.</a:t>
            </a:r>
            <a:endParaRPr lang="en-US" sz="22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ground truth graph is ever needed.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0" y="201168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5875">
            <a:solidFill>
              <a:srgbClr val="4D4D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0" y="2011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Needs true Theta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2423160"/>
            <a:ext cx="4206240" cy="9144"/>
          </a:xfrm>
          <a:prstGeom prst="line">
            <a:avLst/>
          </a:prstGeom>
          <a:noFill/>
          <a:ln w="25400">
            <a:solidFill>
              <a:srgbClr val="99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320040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Trains on data only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uGLAD's Training Signal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Minimize the same likelihood the classical solver used.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77440" y="3017520"/>
            <a:ext cx="7406640" cy="1280160"/>
          </a:xfrm>
          <a:prstGeom prst="roundRect">
            <a:avLst>
              <a:gd name="adj" fmla="val 5714"/>
            </a:avLst>
          </a:prstGeom>
          <a:solidFill>
            <a:srgbClr val="F7ECEC"/>
          </a:solidFill>
          <a:ln w="19050">
            <a:solidFill>
              <a:srgbClr val="7D19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60320" y="301752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  =  - log |Θ|  +  trace( Σ̂ Θ 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Handling Missing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uGLAD on several subsets.</a:t>
            </a:r>
            <a:endParaRPr lang="en-US" sz="22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 them by majority sign and smallest size.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92240" y="201168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0" y="20116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 subset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292608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 subset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384048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3840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 subset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377440"/>
            <a:ext cx="731520" cy="91440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46720" y="3291840"/>
            <a:ext cx="73152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8046720" y="3291840"/>
            <a:ext cx="731520" cy="91440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69680" y="292608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0" y="2926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Consensus 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uGLAD Sits Among PGMs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PGMs split into directed and undirected models.</a:t>
            </a:r>
            <a:endParaRPr lang="en-US" sz="22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uGLAD works in the undirected family.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0" y="1645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Bayesian Networks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(directed)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89720" y="16459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89720" y="1645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Markov Networks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(undirected)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89720" y="30175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7D1916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8972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 Graphical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(this project)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332720" y="2560320"/>
            <a:ext cx="9144" cy="4572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309360" y="42062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12: Position of the Gaussian graphical model among PGMs.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Nodes are variables.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Edges exist only where Theta is nonzero.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49440" y="2377440"/>
            <a:ext cx="2377440" cy="9144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65392" y="19933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65392" y="1993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42832" y="19933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D19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42832" y="1993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Xj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Θij ≠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4206240"/>
            <a:ext cx="2377440" cy="9144"/>
          </a:xfrm>
          <a:prstGeom prst="line">
            <a:avLst/>
          </a:prstGeom>
          <a:noFill/>
          <a:ln w="19050">
            <a:solidFill>
              <a:srgbClr val="4D4D4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565392" y="38221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D4D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65392" y="3822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42832" y="38221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D4D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42832" y="3822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Xj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Θij = 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 and parameters are one object here.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live inside the matrix Theta.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0" y="19202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052560" y="192024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743200"/>
            <a:ext cx="1051560" cy="91440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9052560" y="2743200"/>
            <a:ext cx="1051560" cy="91440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18120" y="370332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8120" y="3703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 models give closed form answers.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sampling or approximation is needed.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09360" y="21031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09360" y="2103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PGM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32004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7F7F7"/>
          </a:solidFill>
          <a:ln w="15875">
            <a:solidFill>
              <a:srgbClr val="4D4D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(MCMC, belief prop)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0" y="2880360"/>
            <a:ext cx="9144" cy="320040"/>
          </a:xfrm>
          <a:prstGeom prst="line">
            <a:avLst/>
          </a:prstGeom>
          <a:noFill/>
          <a:ln w="1905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0" y="21031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0" y="2103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 PGM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0" y="32004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0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Exact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(matrix algebra)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332720" y="2880360"/>
            <a:ext cx="9144" cy="32004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Summary</a:t>
            </a:r>
            <a:endParaRPr lang="en-US" sz="3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114803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Work (venue, year)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contribution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 w.r.t. our goal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[3]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Graphical lasso, Friedman et al., 2008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Classical BCD solver for ℓ1-MLE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Fixed penalty, no learning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[2]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GLAD, Shrivastava et al., ICLR 2020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Unrolled AM network, learned penalties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Needs supervision (true Θ)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[1]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uGLAD, Shrivastava et al., NeurIPS'22 WS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Unsupervised GLAD, consensus for missing data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Workshop paper, no formal convergence proof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[4]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Neural Graphical Models, ECSQARU 2023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General dependency graphs, proper inference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Broader scope, more complex model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[5]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Neural Graph Revealers, ICML'23 WS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Graph recovery + probabilistic queries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Healthcare-specific validation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[6]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Survey, Shrivastava &amp; Chajewska, 2022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Positions uGLAD among CI-graph methods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Survey, not a comparator method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Still reading: GLAD, Neural Graphical Models, Neural Graph Revealers and the survey.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of the Art: Causal Order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Research, ICLR 2025.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Recovers causal graphs with the help of imperfect experts.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09360" y="29260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0936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Imperfect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0" y="3383280"/>
            <a:ext cx="36576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138160" y="29260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0" y="3383280"/>
            <a:ext cx="365760" cy="9144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966960" y="29260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96696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Causal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Causal Order Found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Asking for an ordering beats asking for edges.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Ordering is more robust to expert error.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09360" y="20116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5875">
            <a:solidFill>
              <a:srgbClr val="4D4D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0936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for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edges directly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fragile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052560" y="201168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5256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for an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52560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robust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Relates to Our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evaluation language: SHD, precision, recall, F1.</a:t>
            </a:r>
            <a:endParaRPr lang="en-US" sz="24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graph type: directed versus undirected.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26480" y="17373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Causal Order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(directed)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0" y="17373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uGLAD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(undirected)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2560320"/>
            <a:ext cx="1371600" cy="100584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8961120" y="2560320"/>
            <a:ext cx="1371600" cy="1005840"/>
          </a:xfrm>
          <a:prstGeom prst="line">
            <a:avLst/>
          </a:prstGeom>
          <a:noFill/>
          <a:ln w="19050">
            <a:solidFill>
              <a:srgbClr val="7D19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223760" y="352044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metrics: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SHD, Precision, Recall, F1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Candidate Baselines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direct baseline, and three course-listed ones.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2537460" cy="1188720"/>
          </a:xfrm>
          <a:prstGeom prst="roundRect">
            <a:avLst>
              <a:gd name="adj" fmla="val 4615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108960"/>
            <a:ext cx="25374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Graphical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Lasso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60420" y="3108960"/>
            <a:ext cx="25374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60420" y="3108960"/>
            <a:ext cx="25374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3108960"/>
            <a:ext cx="25374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3108960"/>
            <a:ext cx="25374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66860" y="3108960"/>
            <a:ext cx="25374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66860" y="3108960"/>
            <a:ext cx="25374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Hill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Climbing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13: Graphical lasso is the direct match. The other three are course-listed.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Candidate Metrics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numbers, used across this whole literature.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2537460" cy="1188720"/>
          </a:xfrm>
          <a:prstGeom prst="roundRect">
            <a:avLst>
              <a:gd name="adj" fmla="val 4615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108960"/>
            <a:ext cx="25374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60420" y="3108960"/>
            <a:ext cx="2537460" cy="1188720"/>
          </a:xfrm>
          <a:prstGeom prst="roundRect">
            <a:avLst>
              <a:gd name="adj" fmla="val 4615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60420" y="3108960"/>
            <a:ext cx="25374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3108960"/>
            <a:ext cx="2537460" cy="1188720"/>
          </a:xfrm>
          <a:prstGeom prst="roundRect">
            <a:avLst>
              <a:gd name="adj" fmla="val 4615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3108960"/>
            <a:ext cx="25374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66860" y="3108960"/>
            <a:ext cx="2537460" cy="1188720"/>
          </a:xfrm>
          <a:prstGeom prst="roundRect">
            <a:avLst>
              <a:gd name="adj" fmla="val 4615"/>
            </a:avLst>
          </a:prstGeom>
          <a:solidFill>
            <a:srgbClr val="F7ECEC"/>
          </a:solidFill>
          <a:ln w="15875">
            <a:solidFill>
              <a:srgbClr val="7D19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66860" y="3108960"/>
            <a:ext cx="25374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14: SHD counts wrong edges. The other three grade edge quality.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Timeline</a:t>
            </a:r>
            <a:endParaRPr lang="en-US" sz="3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66344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Weeks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Planned Work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Weeks 1-2 (through M1)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Define the problem as posed by uGLAD, review directly related papers, pick Causal Order as the current SOTA anchor.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Weeks 3-4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Finish reading GLAD, Neural Graphical Models, Neural Graph Revealers and the survey. Reproduce uGLAD's public code.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Weeks 5-6 (to M2)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Finalize our specific research question. Build the baseline pipeline (graphical lasso, PC, GES, Hill Climbing).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Weeks 7-8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Run initial experiments on synthetic Gaussian data against the chosen baselines.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Weeks 9-10 (to M3)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Extend to noise and missing data. Begin statistical analysis across multiple seeds.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Weeks 11-12 (to M4)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Consolidate results, revisit SOTA positioning, write the final analysis.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D19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H. Shrivastava, U. Chajewska, R. Abraham, and X. Chen, “uGLAD: A Deep Learning Model to Recover Conditional Independence Graphs,” Microsoft Research, NeurIPS 2022 Workshop on New Frontiers in Graph Learning.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H. Shrivastava, X. Chen, B. Chen, G. Lan, S. Aluru, H. Liu, and L. Song, “GLAD: Learning Sparse Graph Recovery,” ICLR, 2020.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J. Friedman, T. Hastie, and R. Tibshirani, “Sparse inverse covariance estimation with the graphical lasso,” Biostatistics, vol. 9, no. 3, pp. 432-441, 2008.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H. Shrivastava and U. Chajewska, “Neural Graphical Models,” ECSQARU, 2023.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H. Shrivastava and U. Chajewska, “Neural Graph Revealers,” ICML Workshop on ML for Multimodal Healthcare Data, 2023.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H. Shrivastava and U. Chajewska, “Methods for Recovering Conditional Independence Graphs: A Survey,” arXiv:2211.06829, 2022.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A. Vashishtha, A. G. Reddy, A. Kumar, S. Bachu, V. Balasubramanian, and A. Sharma, “Causal Order: The Key to Leveraging Imperfect Experts in Causal Inference,” ICLR, 2025.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D. Mahajan, J. Gladrow, A. Hilmkil, C. Zhang, and M. Scetbon, “Amortized Inference of Causal Models via Conditional Fixed-Point Iterations,” TMLR, 2025.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4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1686</Words>
  <Application>Microsoft Office PowerPoint</Application>
  <PresentationFormat>Widescreen</PresentationFormat>
  <Paragraphs>365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Helvetica Neue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Het  Patel</cp:lastModifiedBy>
  <cp:revision>3</cp:revision>
  <dcterms:created xsi:type="dcterms:W3CDTF">2026-09-15T17:13:40Z</dcterms:created>
  <dcterms:modified xsi:type="dcterms:W3CDTF">2026-09-15T18:36:28Z</dcterms:modified>
</cp:coreProperties>
</file>