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D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tpa\AppData\Local\Temp\claude\C--Users-hetpa-OneDrive---Ahmedabad-University-Desktop-UGRP-PGM\171f37fe-a950-40bc-bda4-4e077fac6cdd\scratchpad\m2work\m1media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4297680" cy="14081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10360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Name: Het Patel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ID: AU2440266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Institute: Ahmedabad University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Program: B.Tech CSE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Domain: uGLAD for Conditional Independence Graph Recovery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 2: Implementation, Validation and Initial Results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350008" y="6181344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 Computer Science Engineering, School of Engineering and Applied Sciences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Talk Covers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problem to the first measured results.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30175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57400" y="3566160"/>
            <a:ext cx="27432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331720" y="30175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77640" y="3566160"/>
            <a:ext cx="27432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51960" y="30175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97880" y="3566160"/>
            <a:ext cx="27432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72200" y="30175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18120" y="3566160"/>
            <a:ext cx="27432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92440" y="30175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27432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12680" y="30175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·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variables are directly linked?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468880" y="35661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19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19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778240" y="35661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19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4023360"/>
            <a:ext cx="2258568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56248" y="4023360"/>
            <a:ext cx="2221992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5029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and Y are linked only through Z, so there is no edge between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· Correlation Misleads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844" y="1554480"/>
            <a:ext cx="9646408" cy="1767060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chain_v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63" y="3504420"/>
            <a:ext cx="9984370" cy="8014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4580193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X1 and X3 are correlated, but not directly linked.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zero in Θ shows it. The covariance Σ hides it.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precision matrix · Σ covariance · P partial correlation.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· The Model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gau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006" y="1600200"/>
            <a:ext cx="9246084" cy="1360298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r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94" y="3189098"/>
            <a:ext cx="8733508" cy="828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4337146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structure sits in Θ. A zero entry means no edge.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Θij is the only place where xi and xj meet in the density.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one sample · D variables · Θ precision · Σ covariance.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· The Model as Factors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fa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699" y="1645920"/>
            <a:ext cx="7560698" cy="2205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308324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factor per node and one per edge.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Θij = 0 the edge factor is 1, so the edge is gone.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Θii weight of a node · Θij weight of an edge.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188720" y="5623560"/>
            <a:ext cx="9784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code:  GaussianGraphicalModel  ·  .node_log_factor  ·  .edge_log_factor  ·  .log_density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Learning: The Objective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obj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502" y="1691640"/>
            <a:ext cx="7835091" cy="21235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363809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 the data, but keep Θ sparse.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cannot be inverted when M &lt; D, and its inverse has no zeros.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sample covariance · Θ ≻ 0 positive definite · ρ penalty strength.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Why the Penalty Gives Zeros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soft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846320" cy="3831974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760720" cy="5819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2200" y="314227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inside the shaded band become exactly 0.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turns a dense matrix into a sparse graph.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raw value · τ penalty.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Solving It: Split in Two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relax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688" y="1737360"/>
            <a:ext cx="9424721" cy="1076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362249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handles the fit. Z handles the sparsity.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of the two steps then has a simple exact answer.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 copy of Θ · λ coupling weight · F Frobenius norm.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The Θ Step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theta_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415" y="1600200"/>
            <a:ext cx="8485266" cy="803867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theta_st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222" y="2678387"/>
            <a:ext cx="8861652" cy="11730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4217158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exact answer for Θ, with no loop.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the gradient to zero and solve the matrix quadratic.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helper matrix · I identity · λ coupling weight.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The Z Step and What Is Learned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z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07" y="1600200"/>
            <a:ext cx="10003682" cy="735068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lam_st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586" y="2609588"/>
            <a:ext cx="4774924" cy="777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3752661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entry gets its own learned threshold.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fixed ρ is replaced by a network, so no tuning by hand.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fρ: 3→3→3→1 network · fλ: 2→3→1 network · 42 weights in total.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uGLAD: Unroll 15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Fifteen repeats of the two steps, stacked like layers.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03120" y="3566160"/>
            <a:ext cx="36576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68880" y="30175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0" y="3566160"/>
            <a:ext cx="36576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89120" y="30175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3566160"/>
            <a:ext cx="36576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309360" y="30175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63840" y="3566160"/>
            <a:ext cx="36576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0" y="30175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84080" y="3566160"/>
            <a:ext cx="365760" cy="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49840" y="30175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468880" y="4343400"/>
            <a:ext cx="74980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two small networks sit inside every layer.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One Layer, Step by Step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611880" cy="2331720"/>
          </a:xfrm>
          <a:prstGeom prst="rect">
            <a:avLst/>
          </a:prstGeom>
          <a:solidFill>
            <a:srgbClr val="F6F6F9"/>
          </a:solidFill>
          <a:ln w="9525">
            <a:solidFill>
              <a:srgbClr val="D5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08760"/>
            <a:ext cx="82296" cy="2331720"/>
          </a:xfrm>
          <a:prstGeom prst="rect">
            <a:avLst/>
          </a:prstGeom>
          <a:solidFill>
            <a:srgbClr val="7D1916"/>
          </a:solidFill>
          <a:ln w="12700">
            <a:solidFill>
              <a:srgbClr val="7D19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Helper matrix</a:t>
            </a:r>
            <a:endParaRPr lang="en-US" sz="1800" dirty="0"/>
          </a:p>
        </p:txBody>
      </p:sp>
      <p:pic>
        <p:nvPicPr>
          <p:cNvPr id="7" name="Image 0" descr="C:\Users\hetpa\AppData\Local\Temp\claude\C--Users-hetpa-OneDrive---Ahmedabad-University-Desktop-UGRP-PGM\171f37fe-a950-40bc-bda4-4e077fac6cdd\scratchpad\m2work\eq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288" y="2537460"/>
            <a:ext cx="1578864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 data and last answer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2331720"/>
          </a:xfrm>
          <a:prstGeom prst="rect">
            <a:avLst/>
          </a:prstGeom>
          <a:solidFill>
            <a:srgbClr val="F6F6F9"/>
          </a:solidFill>
          <a:ln w="9525">
            <a:solidFill>
              <a:srgbClr val="D5D5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1508760"/>
            <a:ext cx="82296" cy="2331720"/>
          </a:xfrm>
          <a:prstGeom prst="rect">
            <a:avLst/>
          </a:prstGeom>
          <a:solidFill>
            <a:srgbClr val="7D1916"/>
          </a:solidFill>
          <a:ln w="12700">
            <a:solidFill>
              <a:srgbClr val="7D19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2628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Θ step</a:t>
            </a:r>
            <a:endParaRPr lang="en-US" sz="1800" dirty="0"/>
          </a:p>
        </p:txBody>
      </p:sp>
      <p:pic>
        <p:nvPicPr>
          <p:cNvPr id="13" name="Image 1" descr="C:\Users\hetpa\AppData\Local\Temp\claude\C--Users-hetpa-OneDrive---Ahmedabad-University-Desktop-UGRP-PGM\171f37fe-a950-40bc-bda4-4e077fac6cdd\scratchpad\m2work\eq/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54029"/>
            <a:ext cx="3108960" cy="6240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closed form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92440" y="1508760"/>
            <a:ext cx="3611880" cy="2331720"/>
          </a:xfrm>
          <a:prstGeom prst="rect">
            <a:avLst/>
          </a:prstGeom>
          <a:solidFill>
            <a:srgbClr val="F6F6F9"/>
          </a:solidFill>
          <a:ln w="9525">
            <a:solidFill>
              <a:srgbClr val="D5D5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2440" y="1508760"/>
            <a:ext cx="82296" cy="2331720"/>
          </a:xfrm>
          <a:prstGeom prst="rect">
            <a:avLst/>
          </a:prstGeom>
          <a:solidFill>
            <a:srgbClr val="7D1916"/>
          </a:solidFill>
          <a:ln w="12700">
            <a:solidFill>
              <a:srgbClr val="7D191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32104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per entry</a:t>
            </a:r>
            <a:endParaRPr lang="en-US" sz="1800" dirty="0"/>
          </a:p>
        </p:txBody>
      </p:sp>
      <p:pic>
        <p:nvPicPr>
          <p:cNvPr id="19" name="Image 2" descr="C:\Users\hetpa\AppData\Local\Temp\claude\C--Users-hetpa-OneDrive---Ahmedabad-University-Desktop-UGRP-PGM\171f37fe-a950-40bc-bda4-4e077fac6cdd\scratchpad\m2work\eq/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032" y="2510028"/>
            <a:ext cx="1804416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numbers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02920" y="4023360"/>
            <a:ext cx="3611880" cy="2331720"/>
          </a:xfrm>
          <a:prstGeom prst="rect">
            <a:avLst/>
          </a:prstGeom>
          <a:solidFill>
            <a:srgbClr val="F6F6F9"/>
          </a:solidFill>
          <a:ln w="9525">
            <a:solidFill>
              <a:srgbClr val="D5D5D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2920" y="4023360"/>
            <a:ext cx="82296" cy="2331720"/>
          </a:xfrm>
          <a:prstGeom prst="rect">
            <a:avLst/>
          </a:prstGeom>
          <a:solidFill>
            <a:srgbClr val="7D1916"/>
          </a:solidFill>
          <a:ln w="12700">
            <a:solidFill>
              <a:srgbClr val="7D191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3152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3152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Learned threshold</a:t>
            </a:r>
            <a:endParaRPr lang="en-US" sz="1800" dirty="0"/>
          </a:p>
        </p:txBody>
      </p:sp>
      <p:pic>
        <p:nvPicPr>
          <p:cNvPr id="25" name="Image 3" descr="C:\Users\hetpa\AppData\Local\Temp\claude\C--Users-hetpa-OneDrive---Ahmedabad-University-Desktop-UGRP-PGM\171f37fe-a950-40bc-bda4-4e077fac6cdd\scratchpad\m2work\eq/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5045964"/>
            <a:ext cx="2231136" cy="4693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" y="5897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network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297680" y="4023360"/>
            <a:ext cx="3611880" cy="2331720"/>
          </a:xfrm>
          <a:prstGeom prst="rect">
            <a:avLst/>
          </a:prstGeom>
          <a:solidFill>
            <a:srgbClr val="F6F6F9"/>
          </a:solidFill>
          <a:ln w="9525">
            <a:solidFill>
              <a:srgbClr val="D5D5D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297680" y="4023360"/>
            <a:ext cx="82296" cy="2331720"/>
          </a:xfrm>
          <a:prstGeom prst="rect">
            <a:avLst/>
          </a:prstGeom>
          <a:solidFill>
            <a:srgbClr val="7D1916"/>
          </a:solidFill>
          <a:ln w="12700">
            <a:solidFill>
              <a:srgbClr val="7D191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2628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2628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 threshold</a:t>
            </a:r>
            <a:endParaRPr lang="en-US" sz="1800" dirty="0"/>
          </a:p>
        </p:txBody>
      </p:sp>
      <p:pic>
        <p:nvPicPr>
          <p:cNvPr id="31" name="Image 4" descr="C:\Users\hetpa\AppData\Local\Temp\claude\C--Users-hetpa-OneDrive---Ahmedabad-University-Desktop-UGRP-PGM\171f37fe-a950-40bc-bda4-4e077fac6cdd\scratchpad\m2work\eq/c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32" y="5045964"/>
            <a:ext cx="2292096" cy="4693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6280" y="5897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zeros appear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8092440" y="4023360"/>
            <a:ext cx="3611880" cy="2331720"/>
          </a:xfrm>
          <a:prstGeom prst="rect">
            <a:avLst/>
          </a:prstGeom>
          <a:solidFill>
            <a:srgbClr val="F6F6F9"/>
          </a:solidFill>
          <a:ln w="9525">
            <a:solidFill>
              <a:srgbClr val="D5D5D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092440" y="4023360"/>
            <a:ext cx="82296" cy="2331720"/>
          </a:xfrm>
          <a:prstGeom prst="rect">
            <a:avLst/>
          </a:prstGeom>
          <a:solidFill>
            <a:srgbClr val="7D1916"/>
          </a:solidFill>
          <a:ln w="12700">
            <a:solidFill>
              <a:srgbClr val="7D191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32104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32104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coupling weight</a:t>
            </a:r>
            <a:endParaRPr lang="en-US" sz="1800" dirty="0"/>
          </a:p>
        </p:txBody>
      </p:sp>
      <p:pic>
        <p:nvPicPr>
          <p:cNvPr id="37" name="Image 5" descr="C:\Users\hetpa\AppData\Local\Temp\claude\C--Users-hetpa-OneDrive---Ahmedabad-University-Desktop-UGRP-PGM\171f37fe-a950-40bc-bda4-4e077fac6cdd\scratchpad\m2work\eq/c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5024628"/>
            <a:ext cx="2560320" cy="51206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21040" y="5897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network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Training Without Labels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37360"/>
            <a:ext cx="10607040" cy="739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25198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on how well Θ̂ explains the data.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practice there is no true graph to learn from.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 mode: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on part of the rows, keep the epoch that is best on the rest.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Θ̂ output of layer 15 · S sample covariance.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· Inference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in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256" y="1691640"/>
            <a:ext cx="9435584" cy="1310006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pco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785" y="3275966"/>
            <a:ext cx="3466527" cy="13228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4964607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one variable from all others, exactly.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Gaussian, so no sampling is needed.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Θii, Θij entries of the learned Θ · P strength of a direct link.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· Validation: Maths Against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formulas agree with independent references.</a:t>
            </a:r>
            <a:endParaRPr lang="en-US" sz="2000" dirty="0"/>
          </a:p>
        </p:txBody>
      </p:sp>
      <p:pic>
        <p:nvPicPr>
          <p:cNvPr id="4" name="Image 0" descr="C:/Users/hetpa/OneDrive - Ahmedabad University/Desktop/UGRP/PGM/cse516-g12_th_conditional-ind-graphs_ind/M2_g12_th_conditional-ind-graphs_ind/Results/m2_figures/fig6_mathema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038" y="1874520"/>
            <a:ext cx="788162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0702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1: (a) The alternating steps never increase their objective (largest rise 3e-15) and reach the L-BFGS minimum. (b) Closed form against regression on 400000 samples: largest difference 0.0053.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· Validation: My Code and the Authors'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datasets, same seeds, same ranking.</a:t>
            </a:r>
            <a:endParaRPr lang="en-US" sz="2000" dirty="0"/>
          </a:p>
        </p:txBody>
      </p:sp>
      <p:pic>
        <p:nvPicPr>
          <p:cNvPr id="4" name="Image 0" descr="C:/Users/hetpa/OneDrive - Ahmedabad University/Desktop/UGRP/PGM/cse516-g12_th_conditional-ind-graphs_ind/M2_g12_th_conditional-ind-graphs_ind/Results/m2_figures/fig5_implementati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720" y="1874520"/>
            <a:ext cx="7932255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0702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2: My implementation against the authors' code on 60 datasets. AUPR correlation 1.00, largest difference 0.003.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· Dataset</a:t>
            </a:r>
            <a:endParaRPr lang="en-US" sz="3200" dirty="0"/>
          </a:p>
        </p:txBody>
      </p:sp>
      <p:pic>
        <p:nvPicPr>
          <p:cNvPr id="3" name="Image 0" descr="C:\Users\hetpa\AppData\Local\Temp\claude\C--Users-hetpa-OneDrive---Ahmedabad-University-Desktop-UGRP-PGM\171f37fe-a950-40bc-bda4-4e077fac6cdd\scratchpad\m2work\eq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00200"/>
            <a:ext cx="10607040" cy="550849"/>
          </a:xfrm>
          <a:prstGeom prst="rect">
            <a:avLst/>
          </a:prstGeom>
        </p:spPr>
      </p:pic>
      <p:pic>
        <p:nvPicPr>
          <p:cNvPr id="4" name="Image 1" descr="C:\Users\hetpa\AppData\Local\Temp\claude\C--Users-hetpa-OneDrive---Ahmedabad-University-Desktop-UGRP-PGM\171f37fe-a950-40bc-bda4-4e077fac6cdd\scratchpad\m2work\eq/dat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64" y="2333929"/>
            <a:ext cx="6470368" cy="7700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337832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Gaussian, the paper's protocol, the authors' generator.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= 25 variables, p = 0.1, about 30 true edges out of 300 pairs.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= 10, 25, 50 · 20 graphs each · seed 2026 + graph index.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edge values · A random graph · c shifts the smallest eigenvalue to 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· Baseline and KPIs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SGLCV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(graphical lasso, CV)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389120" y="160020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authors' code and mine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38160" y="160020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possible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AUPR, AUC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35204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likelihood,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 parameters, 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0" y="35204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prediction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error, query time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random ranking gives AUPR ≈ 0.10 and AUC = 0.50.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Data, two learners, scores and queries in one run.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08960" y="3017520"/>
            <a:ext cx="594360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demo.py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run in the experiment setting. It shows the pipeline works. It is not a benchmark.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Result 1: Edge Recovery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SGLCV matches the paper. uGLAD at default settings does not.</a:t>
            </a:r>
            <a:endParaRPr lang="en-US" sz="2000" dirty="0"/>
          </a:p>
        </p:txBody>
      </p:sp>
      <p:pic>
        <p:nvPicPr>
          <p:cNvPr id="4" name="Image 0" descr="C:/Users/hetpa/OneDrive - Ahmedabad University/Desktop/UGRP/PGM/cse516-g12_th_conditional-ind-graphs_ind/M2_g12_th_conditional-ind-graphs_ind/Results/m2_figures/fig1_aupr_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4583" y="1783080"/>
            <a:ext cx="6782529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5274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3: Mean ± one standard deviation over 20 graphs. uGLAD minus SGLCV (AUPR): -0.004, -0.031, -0.093 at M = 10, 25, 50 (paired t = -0.5, -3.3, -4.9).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Result 2: Graph by Graph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M = 25 and 50 about half of the uGLAD graphs are empty.</a:t>
            </a:r>
            <a:endParaRPr lang="en-US" sz="2000" dirty="0"/>
          </a:p>
        </p:txBody>
      </p:sp>
      <p:pic>
        <p:nvPicPr>
          <p:cNvPr id="4" name="Image 0" descr="C:/Users/hetpa/OneDrive - Ahmedabad University/Desktop/UGRP/PGM/cse516-g12_th_conditional-ind-graphs_ind/M2_g12_th_conditional-ind-graphs_ind/Results/m2_figures/fig2_paired_ed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817" y="1783080"/>
            <a:ext cx="8064062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5274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4: (a) uGLAD is above the line on 7, 2, 1 of 20 graphs at M = 10, 25, 50. (b) Empty uGLAD graphs: 0, 11, 12 of 20. Empty SGLCV graphs: 3, 2, 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Result 3: One Recovered Graph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graph at the largest M. It was not picked.</a:t>
            </a:r>
            <a:endParaRPr lang="en-US" sz="2000" dirty="0"/>
          </a:p>
        </p:txBody>
      </p:sp>
      <p:pic>
        <p:nvPicPr>
          <p:cNvPr id="4" name="Image 0" descr="C:/Users/hetpa/OneDrive - Ahmedabad University/Desktop/UGRP/PGM/cse516-g12_th_conditional-ind-graphs_ind/M2_g12_th_conditional-ind-graphs_ind/Results/m2_figures/fig3_example_grap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354" y="1783080"/>
            <a:ext cx="8158987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5274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5: M = 50, graph 0. SGLCV: 2 correct, 2 extra, 22 missed. uGLAD: 0 correct, 0 extra, 24 missed.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Result 4: Likelihood and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error is close to the true model for every method.</a:t>
            </a:r>
            <a:endParaRPr lang="en-US" sz="2000" dirty="0"/>
          </a:p>
        </p:txBody>
      </p:sp>
      <p:pic>
        <p:nvPicPr>
          <p:cNvPr id="4" name="Image 0" descr="C:/Users/hetpa/OneDrive - Ahmedabad University/Desktop/UGRP/PGM/cse516-g12_th_conditional-ind-graphs_ind/M2_g12_th_conditional-ind-graphs_ind/Results/m2_figures/fig4_learning_in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725" y="1783080"/>
            <a:ext cx="6674245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5274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6: At M = 50 the likelihood gap to the true model is 0.7 (SGLCV) and 3.0 (uGLAD); the prediction error gap is 0.023 and 0.029.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Table 1 Against the Paper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± standard deviation over 20 graphs. Paper values from [1].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55778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234440"/>
                <a:gridCol w="1234440"/>
                <a:gridCol w="12344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AUPR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 = 10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 = 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 = 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SGLCV, paper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0.112 ± 0.013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0.132 ± 0.012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0.219 ± 0.085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SGLCV, this run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0.123 ± 0.050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0.153 ± 0.048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0.240 ± 0.070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paper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0.159 ± 0.029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0.174 ± 0.018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0.223 ± 0.062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authors' code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0.119 ± 0.031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0.122 ± 0.030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0.147 ± 0.075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my code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0.119 ± 0.031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0.122 ± 0.030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0.147 ± 0.075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57400"/>
          <a:ext cx="55778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234440"/>
                <a:gridCol w="1234440"/>
                <a:gridCol w="12344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 = 10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 = 25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D191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 = 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A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SGLCV, paper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0.505 ± 0.007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0.532 ± 0.031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0.617 ± 0.083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SGLCV, this run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0.518 ± 0.041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0.540 ± 0.040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0.604 ± 0.054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paper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0.572 ± 0.027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0.595 ± 0.044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0.651 ± 0.021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authors' code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0.518 ± 0.050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0.520 ± 0.035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0.544 ± 0.074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my code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0.516 ± 0.051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0.520 ± 0.035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0.545 ± 0.075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SGLCV is reproduced. uGLAD at the default settings is below the published numbers.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· What I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findings from the first experiment.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SGLCV is reproduced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within one standard deviation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389120" y="292608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 at defaults: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 at M = 10,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behind at M = 25, 50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38160" y="292608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code matches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authors' code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60 datasets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· Limits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results are preliminary.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the paper's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1 setting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389120" y="292608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graphs, default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settings of the code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38160" y="292608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Paper's training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not given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· Planned for M3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plan may change as I learn more.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length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learning rate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51960" y="228600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M and the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PC, GES, hill climbing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0" y="228600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cut-off rule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the graph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Noise and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51960" y="42062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8EAEA"/>
          </a:solidFill>
          <a:ln w="15875">
            <a:solidFill>
              <a:srgbClr val="7D191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Significance tests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 more graphs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Shrivastava, U. Chajewska, R. Abraham, X. Chen, uGLAD: A Deep Learning Model to Recover Conditional Independence Graphs, NeurIPS 2022 GLFrontiers Workshop.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H. Shrivastava et al., GLAD: Learning Sparse Graph Recovery, ICLR 2020.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J. Friedman, T. Hastie, R. Tibshirani, Sparse inverse covariance estimation with the graphical lasso, Biostatistics 9(3), 2008.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Authors' code: github.com/Harshs27/uGLAD (version 2.0.0).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F. Pedregosa et al., Scikit-learn: Machine Learning in Python, JMLR 12, 2011.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A. Paszke et al., PyTorch: An Imperative Style, High-Performance Deep Learning Library, NeurIPS 2019.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Ahmedabad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uGLAD for Conditional Independence Graph Recovery: Milestone 2</dc:title>
  <dc:subject>CSE 516 Milestone 2</dc:subject>
  <dc:creator>Het Patel</dc:creator>
  <cp:lastModifiedBy>Het Patel</cp:lastModifiedBy>
  <cp:revision>1</cp:revision>
  <dcterms:created xsi:type="dcterms:W3CDTF">2026-10-14T17:56:20Z</dcterms:created>
  <dcterms:modified xsi:type="dcterms:W3CDTF">2026-10-14T17:56:20Z</dcterms:modified>
</cp:coreProperties>
</file>